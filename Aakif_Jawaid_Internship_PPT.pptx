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mbria Bold" charset="1" panose="0204080305040603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4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7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27480" y="-30175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17520" y="713232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754380"/>
            <a:ext cx="15773400" cy="685800"/>
            <a:chOff x="0" y="0"/>
            <a:chExt cx="210312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0312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IILM UNIVERSITY, GREATER NOIDA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9580">
            <a:off x="1247527" y="1499235"/>
            <a:ext cx="3320539" cy="0"/>
          </a:xfrm>
          <a:prstGeom prst="line">
            <a:avLst/>
          </a:prstGeom>
          <a:ln cap="rnd" w="19050">
            <a:solidFill>
              <a:srgbClr val="FFB1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34440" y="2125980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3A469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6002" y="2277542"/>
            <a:ext cx="862736" cy="862736"/>
            <a:chOff x="0" y="0"/>
            <a:chExt cx="1150315" cy="1150315"/>
          </a:xfrm>
        </p:grpSpPr>
        <p:sp>
          <p:nvSpPr>
            <p:cNvPr name="Freeform 13" id="13" descr="/home/claude/resume/icons/robot_FFFFFF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3634740"/>
            <a:ext cx="15773400" cy="2057400"/>
            <a:chOff x="0" y="0"/>
            <a:chExt cx="21031200" cy="274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31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0312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Agent Development &amp; Full-Stack</a:t>
              </a:r>
            </a:p>
            <a:p>
              <a:pPr algn="l">
                <a:lnSpc>
                  <a:spcPts val="57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Platform Engineering at ScaleOn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5417820"/>
            <a:ext cx="10972800" cy="617220"/>
            <a:chOff x="0" y="0"/>
            <a:chExt cx="1463040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822960"/>
            </a:xfrm>
            <a:custGeom>
              <a:avLst/>
              <a:gdLst/>
              <a:ahLst/>
              <a:cxnLst/>
              <a:rect r="r" b="b" t="t" l="l"/>
              <a:pathLst>
                <a:path h="8229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3040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Internship Report Presentation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6377940"/>
            <a:ext cx="15773400" cy="2948940"/>
            <a:chOff x="0" y="0"/>
            <a:chExt cx="21031200" cy="393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312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21031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0884896" y="0"/>
                  </a:lnTo>
                  <a:cubicBezTo>
                    <a:pt x="20965668" y="0"/>
                    <a:pt x="21031200" y="65532"/>
                    <a:pt x="21031200" y="146304"/>
                  </a:cubicBezTo>
                  <a:lnTo>
                    <a:pt x="21031200" y="3785616"/>
                  </a:lnTo>
                  <a:cubicBezTo>
                    <a:pt x="21031200" y="3866388"/>
                    <a:pt x="20965668" y="3931920"/>
                    <a:pt x="208848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5920" y="6789420"/>
            <a:ext cx="6583680" cy="411480"/>
            <a:chOff x="0" y="0"/>
            <a:chExt cx="877824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778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NAME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7173468"/>
            <a:ext cx="6583680" cy="548640"/>
            <a:chOff x="0" y="0"/>
            <a:chExt cx="87782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7782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Aakif Jawaid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7818120"/>
            <a:ext cx="6583680" cy="411480"/>
            <a:chOff x="0" y="0"/>
            <a:chExt cx="877824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8778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ENROLLMENT NUMBER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5920" y="8202168"/>
            <a:ext cx="6583680" cy="548640"/>
            <a:chOff x="0" y="0"/>
            <a:chExt cx="877824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7782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CS-23411102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64040" y="6789420"/>
            <a:ext cx="7132320" cy="411480"/>
            <a:chOff x="0" y="0"/>
            <a:chExt cx="950976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509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PROGRAM &amp; SEMESTER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64040" y="7173468"/>
            <a:ext cx="7132320" cy="548640"/>
            <a:chOff x="0" y="0"/>
            <a:chExt cx="950976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95097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B.Tech CSE, VIIth Semester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64040" y="7818120"/>
            <a:ext cx="7132320" cy="411480"/>
            <a:chOff x="0" y="0"/>
            <a:chExt cx="950976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509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64040" y="8202168"/>
            <a:ext cx="7132320" cy="548640"/>
            <a:chOff x="0" y="0"/>
            <a:chExt cx="95097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95097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ScaleOn (Internship Program 2026)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812041" y="452525"/>
            <a:ext cx="4114062" cy="1364303"/>
          </a:xfrm>
          <a:custGeom>
            <a:avLst/>
            <a:gdLst/>
            <a:ahLst/>
            <a:cxnLst/>
            <a:rect r="r" b="b" t="t" l="l"/>
            <a:pathLst>
              <a:path h="1364303" w="4114062">
                <a:moveTo>
                  <a:pt x="0" y="0"/>
                </a:moveTo>
                <a:lnTo>
                  <a:pt x="4114062" y="0"/>
                </a:lnTo>
                <a:lnTo>
                  <a:pt x="4114062" y="1364303"/>
                </a:lnTo>
                <a:lnTo>
                  <a:pt x="0" y="13643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4401800" cy="960120"/>
            <a:chOff x="0" y="0"/>
            <a:chExt cx="19202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 &amp; Organization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85800"/>
            <a:ext cx="1645920" cy="822960"/>
            <a:chOff x="0" y="0"/>
            <a:chExt cx="21945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FFB1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4.1 / 4.2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618488"/>
            <a:ext cx="1234440" cy="82296"/>
            <a:chOff x="0" y="0"/>
            <a:chExt cx="1645920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88820"/>
            <a:ext cx="16596360" cy="1508760"/>
            <a:chOff x="0" y="0"/>
            <a:chExt cx="2212848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8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2128480" cy="2125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1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report covers my work as an </a:t>
              </a:r>
              <a:r>
                <a:rPr lang="en-US" sz="21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 Developer Intern</a:t>
              </a:r>
              <a:r>
                <a:rPr lang="en-US" sz="21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at ScaleOn (Internship Program 2026), from July 2026 to present — structured around two parallel tracks: AI agent development and full-stack platform ownership.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3771900"/>
            <a:ext cx="8023860" cy="2331720"/>
            <a:chOff x="0" y="0"/>
            <a:chExt cx="10698480" cy="3108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9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2962656"/>
                  </a:lnTo>
                  <a:cubicBezTo>
                    <a:pt x="10698480" y="3043428"/>
                    <a:pt x="10632948" y="3108960"/>
                    <a:pt x="1055217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4251960"/>
            <a:ext cx="1165860" cy="1165860"/>
            <a:chOff x="0" y="0"/>
            <a:chExt cx="1554480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7422" y="4403522"/>
            <a:ext cx="862736" cy="862736"/>
            <a:chOff x="0" y="0"/>
            <a:chExt cx="1150315" cy="1150315"/>
          </a:xfrm>
        </p:grpSpPr>
        <p:sp>
          <p:nvSpPr>
            <p:cNvPr name="Freeform 18" id="18" descr="/home/claude/resume/icons/envelope_FFFFFF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606040" y="4046220"/>
            <a:ext cx="5966460" cy="548640"/>
            <a:chOff x="0" y="0"/>
            <a:chExt cx="79552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Agent Development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606040" y="4663440"/>
            <a:ext cx="5966460" cy="1303020"/>
            <a:chOff x="0" y="0"/>
            <a:chExt cx="7955280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55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7955280" cy="1804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Building agent systems using Python, LangChain, and Gemini — including an Email Auto-Triage &amp; Draft-Reply Agent.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58300" y="3771900"/>
            <a:ext cx="8023860" cy="2331720"/>
            <a:chOff x="0" y="0"/>
            <a:chExt cx="10698480" cy="3108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2962656"/>
                  </a:lnTo>
                  <a:cubicBezTo>
                    <a:pt x="10698480" y="3043428"/>
                    <a:pt x="10632948" y="3108960"/>
                    <a:pt x="1055217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4251960"/>
            <a:ext cx="1165860" cy="1165860"/>
            <a:chOff x="0" y="0"/>
            <a:chExt cx="155448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52762" y="4403522"/>
            <a:ext cx="862736" cy="862736"/>
            <a:chOff x="0" y="0"/>
            <a:chExt cx="1150315" cy="1150315"/>
          </a:xfrm>
        </p:grpSpPr>
        <p:sp>
          <p:nvSpPr>
            <p:cNvPr name="Freeform 30" id="30" descr="/home/claude/resume/icons/server_FFFFFF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041380" y="4046220"/>
            <a:ext cx="5966460" cy="548640"/>
            <a:chOff x="0" y="0"/>
            <a:chExt cx="79552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Full-Stack Platform Ownership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041380" y="4663440"/>
            <a:ext cx="5966460" cy="1303020"/>
            <a:chOff x="0" y="0"/>
            <a:chExt cx="795528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55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7955280" cy="1804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Independently developing and maintaining the ScaleOn Internship Study Portal end-to-end.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6515100"/>
            <a:ext cx="16596360" cy="2537460"/>
            <a:chOff x="0" y="0"/>
            <a:chExt cx="22128480" cy="3383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236976"/>
                  </a:lnTo>
                  <a:cubicBezTo>
                    <a:pt x="22128480" y="3317748"/>
                    <a:pt x="22062948" y="3383280"/>
                    <a:pt x="2198217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6926580"/>
            <a:ext cx="1303020" cy="1303020"/>
            <a:chOff x="0" y="0"/>
            <a:chExt cx="173736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03833" y="7095973"/>
            <a:ext cx="964235" cy="964235"/>
            <a:chOff x="0" y="0"/>
            <a:chExt cx="1285646" cy="1285646"/>
          </a:xfrm>
        </p:grpSpPr>
        <p:sp>
          <p:nvSpPr>
            <p:cNvPr name="Freeform 42" id="42" descr="/home/claude/resume/icons/diagram_1E2761.png"/>
            <p:cNvSpPr/>
            <p:nvPr/>
          </p:nvSpPr>
          <p:spPr>
            <a:xfrm flipH="false" flipV="false" rot="0">
              <a:off x="0" y="0"/>
              <a:ext cx="1285621" cy="1285621"/>
            </a:xfrm>
            <a:custGeom>
              <a:avLst/>
              <a:gdLst/>
              <a:ahLst/>
              <a:cxnLst/>
              <a:rect r="r" b="b" t="t" l="l"/>
              <a:pathLst>
                <a:path h="1285621" w="1285621">
                  <a:moveTo>
                    <a:pt x="0" y="0"/>
                  </a:moveTo>
                  <a:lnTo>
                    <a:pt x="1285621" y="0"/>
                  </a:lnTo>
                  <a:lnTo>
                    <a:pt x="1285621" y="1285621"/>
                  </a:lnTo>
                  <a:lnTo>
                    <a:pt x="0" y="128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880360" y="6720840"/>
            <a:ext cx="14127480" cy="2125980"/>
            <a:chOff x="0" y="0"/>
            <a:chExt cx="18836640" cy="2834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836639" cy="2834640"/>
            </a:xfrm>
            <a:custGeom>
              <a:avLst/>
              <a:gdLst/>
              <a:ahLst/>
              <a:cxnLst/>
              <a:rect r="r" b="b" t="t" l="l"/>
              <a:pathLst>
                <a:path h="283464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81" r="0" b="-7948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18836640" cy="2939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ScaleOn is a technology-driven organization running a structured Internship Program (2026), focused on practical, hands-on engineering experience. It operates as a lean, fast-moving team where interns get real ownership over production systems and ship working software under realistic deadlines.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487900" y="9806940"/>
            <a:ext cx="548640" cy="411480"/>
            <a:chOff x="0" y="0"/>
            <a:chExt cx="73152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4401800" cy="960120"/>
            <a:chOff x="0" y="0"/>
            <a:chExt cx="19202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 &amp;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85800"/>
            <a:ext cx="1645920" cy="822960"/>
            <a:chOff x="0" y="0"/>
            <a:chExt cx="21945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FFB1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4.3 / 4.4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618488"/>
            <a:ext cx="1234440" cy="82296"/>
            <a:chOff x="0" y="0"/>
            <a:chExt cx="1645920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057400"/>
            <a:ext cx="8023860" cy="2948940"/>
            <a:chOff x="0" y="0"/>
            <a:chExt cx="10698480" cy="3931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84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3749040"/>
                  </a:lnTo>
                  <a:cubicBezTo>
                    <a:pt x="10698480" y="3850005"/>
                    <a:pt x="10616565" y="3931920"/>
                    <a:pt x="1051560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441448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9256" y="2566264"/>
            <a:ext cx="710489" cy="710489"/>
            <a:chOff x="0" y="0"/>
            <a:chExt cx="947318" cy="947318"/>
          </a:xfrm>
        </p:grpSpPr>
        <p:sp>
          <p:nvSpPr>
            <p:cNvPr name="Freeform 15" id="15" descr="/home/claude/resume/icons/envelope_1E2761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68880" y="2441448"/>
            <a:ext cx="5966460" cy="822960"/>
            <a:chOff x="0" y="0"/>
            <a:chExt cx="79552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5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95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Email Handling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3497580"/>
            <a:ext cx="7200900" cy="1371600"/>
            <a:chOff x="0" y="0"/>
            <a:chExt cx="960120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96012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Reading and responding to emails individually doesn't scale — needs an intelligent triage agent.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95460" y="2057400"/>
            <a:ext cx="8023860" cy="2948940"/>
            <a:chOff x="0" y="0"/>
            <a:chExt cx="10698480" cy="3931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984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3749040"/>
                  </a:lnTo>
                  <a:cubicBezTo>
                    <a:pt x="10698480" y="3850005"/>
                    <a:pt x="10616565" y="3931920"/>
                    <a:pt x="1051560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6940" y="2441448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31756" y="2566264"/>
            <a:ext cx="710489" cy="710489"/>
            <a:chOff x="0" y="0"/>
            <a:chExt cx="947318" cy="947318"/>
          </a:xfrm>
        </p:grpSpPr>
        <p:sp>
          <p:nvSpPr>
            <p:cNvPr name="Freeform 27" id="27" descr="/home/claude/resume/icons/layers_1E2761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041380" y="2441448"/>
            <a:ext cx="5966460" cy="822960"/>
            <a:chOff x="0" y="0"/>
            <a:chExt cx="7955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55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955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Centralized Platform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06940" y="3497580"/>
            <a:ext cx="7200900" cy="1371600"/>
            <a:chOff x="0" y="0"/>
            <a:chExt cx="960120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0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96012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digital platform to manage interns, learning content, and certifications at scale.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5280660"/>
            <a:ext cx="8229600" cy="548640"/>
            <a:chOff x="0" y="0"/>
            <a:chExt cx="1097280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6089904"/>
            <a:ext cx="438912" cy="438912"/>
            <a:chOff x="0" y="0"/>
            <a:chExt cx="585216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6089904"/>
            <a:ext cx="438912" cy="438912"/>
            <a:chOff x="0" y="0"/>
            <a:chExt cx="585216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85216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0180" y="5897880"/>
            <a:ext cx="7338060" cy="822960"/>
            <a:chOff x="0" y="0"/>
            <a:chExt cx="97840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8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7840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an AI agent to triage email &amp; draft replies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58300" y="6089904"/>
            <a:ext cx="438912" cy="438912"/>
            <a:chOff x="0" y="0"/>
            <a:chExt cx="585216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58300" y="6089904"/>
            <a:ext cx="438912" cy="438912"/>
            <a:chOff x="0" y="0"/>
            <a:chExt cx="585216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85216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75520" y="5897880"/>
            <a:ext cx="7338060" cy="822960"/>
            <a:chOff x="0" y="0"/>
            <a:chExt cx="97840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8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7840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Resolve real OAuth / rate-limit production issues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7434072"/>
            <a:ext cx="438912" cy="438912"/>
            <a:chOff x="0" y="0"/>
            <a:chExt cx="585216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22960" y="7434072"/>
            <a:ext cx="438912" cy="438912"/>
            <a:chOff x="0" y="0"/>
            <a:chExt cx="585216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85216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40180" y="7242048"/>
            <a:ext cx="7338060" cy="822960"/>
            <a:chOff x="0" y="0"/>
            <a:chExt cx="978408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8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97840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secure, role-based intern management platform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258300" y="7434072"/>
            <a:ext cx="438912" cy="438912"/>
            <a:chOff x="0" y="0"/>
            <a:chExt cx="585216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258300" y="7434072"/>
            <a:ext cx="438912" cy="438912"/>
            <a:chOff x="0" y="0"/>
            <a:chExt cx="585216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585216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75520" y="7242048"/>
            <a:ext cx="7338060" cy="822960"/>
            <a:chOff x="0" y="0"/>
            <a:chExt cx="97840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8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97840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auth, RBAC, audit logging &amp; learning system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2960" y="8778240"/>
            <a:ext cx="438912" cy="438912"/>
            <a:chOff x="0" y="0"/>
            <a:chExt cx="585216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22960" y="8778240"/>
            <a:ext cx="438912" cy="438912"/>
            <a:chOff x="0" y="0"/>
            <a:chExt cx="585216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585216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40180" y="8586216"/>
            <a:ext cx="7338060" cy="822960"/>
            <a:chOff x="0" y="0"/>
            <a:chExt cx="97840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8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97840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Ship a modern, responsive UI for both user roles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258300" y="8778240"/>
            <a:ext cx="438912" cy="438912"/>
            <a:chOff x="0" y="0"/>
            <a:chExt cx="585216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258300" y="8778240"/>
            <a:ext cx="438912" cy="438912"/>
            <a:chOff x="0" y="0"/>
            <a:chExt cx="585216" cy="5852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585216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875520" y="8586216"/>
            <a:ext cx="7338060" cy="822960"/>
            <a:chOff x="0" y="0"/>
            <a:chExt cx="9784080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8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97840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Maintain &amp; iterate: bug fixes and new features post-launch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487900" y="9806940"/>
            <a:ext cx="548640" cy="411480"/>
            <a:chOff x="0" y="0"/>
            <a:chExt cx="73152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4401800" cy="960120"/>
            <a:chOff x="0" y="0"/>
            <a:chExt cx="19202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Scope &amp; Technology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85800"/>
            <a:ext cx="1645920" cy="822960"/>
            <a:chOff x="0" y="0"/>
            <a:chExt cx="21945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FFB1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4.5 / 4.6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618488"/>
            <a:ext cx="1234440" cy="82296"/>
            <a:chOff x="0" y="0"/>
            <a:chExt cx="1645920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057400"/>
            <a:ext cx="8023860" cy="7063740"/>
            <a:chOff x="0" y="0"/>
            <a:chExt cx="10698480" cy="9418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848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9235440"/>
                  </a:lnTo>
                  <a:cubicBezTo>
                    <a:pt x="10698480" y="9336405"/>
                    <a:pt x="10616565" y="9418320"/>
                    <a:pt x="1051560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468880"/>
            <a:ext cx="1165860" cy="1165860"/>
            <a:chOff x="0" y="0"/>
            <a:chExt cx="15544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54582" y="2620442"/>
            <a:ext cx="862736" cy="862736"/>
            <a:chOff x="0" y="0"/>
            <a:chExt cx="1150315" cy="1150315"/>
          </a:xfrm>
        </p:grpSpPr>
        <p:sp>
          <p:nvSpPr>
            <p:cNvPr name="Freeform 15" id="15" descr="/home/claude/resume/icons/envelope_1E2761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3840480"/>
            <a:ext cx="7063740" cy="1097280"/>
            <a:chOff x="0" y="0"/>
            <a:chExt cx="94183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1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34" r="0" b="-754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94183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Email Auto-Triage &amp; Draft-Reply Agent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9240">
            <a:off x="1293485" y="5070158"/>
            <a:ext cx="7082819" cy="0"/>
          </a:xfrm>
          <a:prstGeom prst="line">
            <a:avLst/>
          </a:prstGeom>
          <a:ln cap="rnd" w="9525">
            <a:solidFill>
              <a:srgbClr val="FFB1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03020" y="5280660"/>
            <a:ext cx="7063740" cy="1028700"/>
            <a:chOff x="0" y="0"/>
            <a:chExt cx="941832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41832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 i="true">
                  <a:solidFill>
                    <a:srgbClr val="FFB1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Python, LangChain, Gemini LLM, Gmail API + OAuth 2.0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31620" y="6454140"/>
            <a:ext cx="6675120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Classifies: Urgent / Needs Reply / FYI / Spam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Auto-drafts replies for human review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auth expiry &amp; rate-limit edge cases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8300" y="2057400"/>
            <a:ext cx="8023860" cy="7063740"/>
            <a:chOff x="0" y="0"/>
            <a:chExt cx="10698480" cy="941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848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9235440"/>
                  </a:lnTo>
                  <a:cubicBezTo>
                    <a:pt x="10698480" y="9336405"/>
                    <a:pt x="10616565" y="9418320"/>
                    <a:pt x="10515600" y="9418320"/>
                  </a:cubicBezTo>
                  <a:lnTo>
                    <a:pt x="182880" y="9418320"/>
                  </a:lnTo>
                  <a:cubicBezTo>
                    <a:pt x="81915" y="9418320"/>
                    <a:pt x="0" y="9336405"/>
                    <a:pt x="0" y="9235440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38360" y="2468880"/>
            <a:ext cx="1165860" cy="1165860"/>
            <a:chOff x="0" y="0"/>
            <a:chExt cx="15544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89922" y="2620442"/>
            <a:ext cx="862736" cy="862736"/>
            <a:chOff x="0" y="0"/>
            <a:chExt cx="1150315" cy="1150315"/>
          </a:xfrm>
        </p:grpSpPr>
        <p:sp>
          <p:nvSpPr>
            <p:cNvPr name="Freeform 29" id="29" descr="/home/claude/resume/icons/server_1E2761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38360" y="3840480"/>
            <a:ext cx="7063740" cy="1097280"/>
            <a:chOff x="0" y="0"/>
            <a:chExt cx="941832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1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34" r="0" b="-754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9418320" cy="1558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ScaleOn Internship Study Portal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9240">
            <a:off x="9728825" y="5070158"/>
            <a:ext cx="7082819" cy="0"/>
          </a:xfrm>
          <a:prstGeom prst="line">
            <a:avLst/>
          </a:prstGeom>
          <a:ln cap="rnd" w="9525">
            <a:solidFill>
              <a:srgbClr val="FFB1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738360" y="5280660"/>
            <a:ext cx="7063740" cy="1028700"/>
            <a:chOff x="0" y="0"/>
            <a:chExt cx="941832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18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941832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 i="true">
                  <a:solidFill>
                    <a:srgbClr val="FFB1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Next.js, React, Express.js, PostgreSQL + Prisma, JWT/RBAC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966960" y="6454140"/>
            <a:ext cx="6675120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Gamified learning (XP, streaks, leaderboard)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Assignments, live sessions, support tickets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certificates &amp; admin analytics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487900" y="9806940"/>
            <a:ext cx="548640" cy="411480"/>
            <a:chOff x="0" y="0"/>
            <a:chExt cx="73152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4401800" cy="960120"/>
            <a:chOff x="0" y="0"/>
            <a:chExt cx="19202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85800"/>
            <a:ext cx="1645920" cy="822960"/>
            <a:chOff x="0" y="0"/>
            <a:chExt cx="21945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FFB1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618488"/>
            <a:ext cx="1234440" cy="82296"/>
            <a:chOff x="0" y="0"/>
            <a:chExt cx="1645920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88820"/>
            <a:ext cx="10972800" cy="548640"/>
            <a:chOff x="0" y="0"/>
            <a:chExt cx="146304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Email Agent — Processing Flow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674620"/>
            <a:ext cx="3017520" cy="1577340"/>
            <a:chOff x="0" y="0"/>
            <a:chExt cx="402336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023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895344" y="0"/>
                  </a:lnTo>
                  <a:cubicBezTo>
                    <a:pt x="3966083" y="0"/>
                    <a:pt x="4023360" y="57277"/>
                    <a:pt x="4023360" y="128016"/>
                  </a:cubicBezTo>
                  <a:lnTo>
                    <a:pt x="4023360" y="1975104"/>
                  </a:lnTo>
                  <a:cubicBezTo>
                    <a:pt x="4023360" y="2045843"/>
                    <a:pt x="3966083" y="2103120"/>
                    <a:pt x="389534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88820" y="288036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077974" y="2969514"/>
            <a:ext cx="507492" cy="507492"/>
            <a:chOff x="0" y="0"/>
            <a:chExt cx="676656" cy="676656"/>
          </a:xfrm>
        </p:grpSpPr>
        <p:sp>
          <p:nvSpPr>
            <p:cNvPr name="Freeform 18" id="18" descr="/home/claude/resume/icons/shield_1E2761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3662172"/>
            <a:ext cx="2743200" cy="521208"/>
            <a:chOff x="0" y="0"/>
            <a:chExt cx="3657600" cy="6949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OAuth 2.0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40480" y="3086100"/>
            <a:ext cx="377190" cy="685800"/>
            <a:chOff x="0" y="0"/>
            <a:chExt cx="5029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02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217670" y="2674620"/>
            <a:ext cx="3017520" cy="1577340"/>
            <a:chOff x="0" y="0"/>
            <a:chExt cx="4023360" cy="2103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3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023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895344" y="0"/>
                  </a:lnTo>
                  <a:cubicBezTo>
                    <a:pt x="3966083" y="0"/>
                    <a:pt x="4023360" y="57277"/>
                    <a:pt x="4023360" y="128016"/>
                  </a:cubicBezTo>
                  <a:lnTo>
                    <a:pt x="4023360" y="1975104"/>
                  </a:lnTo>
                  <a:cubicBezTo>
                    <a:pt x="4023360" y="2045843"/>
                    <a:pt x="3966083" y="2103120"/>
                    <a:pt x="389534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83530" y="288036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72684" y="2969514"/>
            <a:ext cx="507492" cy="507492"/>
            <a:chOff x="0" y="0"/>
            <a:chExt cx="676656" cy="676656"/>
          </a:xfrm>
        </p:grpSpPr>
        <p:sp>
          <p:nvSpPr>
            <p:cNvPr name="Freeform 30" id="30" descr="/home/claude/resume/icons/envelope_1E2761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354830" y="3662172"/>
            <a:ext cx="2743200" cy="521208"/>
            <a:chOff x="0" y="0"/>
            <a:chExt cx="3657600" cy="6949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6576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Fetch Emails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35190" y="3086100"/>
            <a:ext cx="377190" cy="685800"/>
            <a:chOff x="0" y="0"/>
            <a:chExt cx="50292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2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612380" y="2674620"/>
            <a:ext cx="3017520" cy="1577340"/>
            <a:chOff x="0" y="0"/>
            <a:chExt cx="4023360" cy="2103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23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023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895344" y="0"/>
                  </a:lnTo>
                  <a:cubicBezTo>
                    <a:pt x="3966083" y="0"/>
                    <a:pt x="4023360" y="57277"/>
                    <a:pt x="4023360" y="128016"/>
                  </a:cubicBezTo>
                  <a:lnTo>
                    <a:pt x="4023360" y="1975104"/>
                  </a:lnTo>
                  <a:cubicBezTo>
                    <a:pt x="4023360" y="2045843"/>
                    <a:pt x="3966083" y="2103120"/>
                    <a:pt x="389534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778240" y="2880360"/>
            <a:ext cx="685800" cy="685800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867394" y="2969514"/>
            <a:ext cx="507492" cy="507492"/>
            <a:chOff x="0" y="0"/>
            <a:chExt cx="676656" cy="676656"/>
          </a:xfrm>
        </p:grpSpPr>
        <p:sp>
          <p:nvSpPr>
            <p:cNvPr name="Freeform 42" id="42" descr="/home/claude/resume/icons/robot_1E2761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749540" y="3662172"/>
            <a:ext cx="2743200" cy="521208"/>
            <a:chOff x="0" y="0"/>
            <a:chExt cx="3657600" cy="6949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6576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 (LLM)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29900" y="3086100"/>
            <a:ext cx="377190" cy="685800"/>
            <a:chOff x="0" y="0"/>
            <a:chExt cx="50292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502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007090" y="2674620"/>
            <a:ext cx="3017520" cy="1577340"/>
            <a:chOff x="0" y="0"/>
            <a:chExt cx="4023360" cy="2103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23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023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895344" y="0"/>
                  </a:lnTo>
                  <a:cubicBezTo>
                    <a:pt x="3966083" y="0"/>
                    <a:pt x="4023360" y="57277"/>
                    <a:pt x="4023360" y="128016"/>
                  </a:cubicBezTo>
                  <a:lnTo>
                    <a:pt x="4023360" y="1975104"/>
                  </a:lnTo>
                  <a:cubicBezTo>
                    <a:pt x="4023360" y="2045843"/>
                    <a:pt x="3966083" y="2103120"/>
                    <a:pt x="389534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172950" y="2880360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262104" y="2969514"/>
            <a:ext cx="507492" cy="507492"/>
            <a:chOff x="0" y="0"/>
            <a:chExt cx="676656" cy="676656"/>
          </a:xfrm>
        </p:grpSpPr>
        <p:sp>
          <p:nvSpPr>
            <p:cNvPr name="Freeform 54" id="54" descr="/home/claude/resume/icons/clipboard_1E2761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144250" y="3662172"/>
            <a:ext cx="2743200" cy="521208"/>
            <a:chOff x="0" y="0"/>
            <a:chExt cx="3657600" cy="6949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576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Draft Reply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024610" y="3086100"/>
            <a:ext cx="377190" cy="685800"/>
            <a:chOff x="0" y="0"/>
            <a:chExt cx="50292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5029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401800" y="2674620"/>
            <a:ext cx="3017520" cy="1577340"/>
            <a:chOff x="0" y="0"/>
            <a:chExt cx="4023360" cy="2103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33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4023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895344" y="0"/>
                  </a:lnTo>
                  <a:cubicBezTo>
                    <a:pt x="3966083" y="0"/>
                    <a:pt x="4023360" y="57277"/>
                    <a:pt x="4023360" y="128016"/>
                  </a:cubicBezTo>
                  <a:lnTo>
                    <a:pt x="4023360" y="1975104"/>
                  </a:lnTo>
                  <a:cubicBezTo>
                    <a:pt x="4023360" y="2045843"/>
                    <a:pt x="3966083" y="2103120"/>
                    <a:pt x="389534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567660" y="2880360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656814" y="2969514"/>
            <a:ext cx="507492" cy="507492"/>
            <a:chOff x="0" y="0"/>
            <a:chExt cx="676656" cy="676656"/>
          </a:xfrm>
        </p:grpSpPr>
        <p:sp>
          <p:nvSpPr>
            <p:cNvPr name="Freeform 66" id="66" descr="/home/claude/resume/icons/users_1E2761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538960" y="3662172"/>
            <a:ext cx="2743200" cy="521208"/>
            <a:chOff x="0" y="0"/>
            <a:chExt cx="3657600" cy="694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6576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 Review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4732020"/>
            <a:ext cx="10972800" cy="548640"/>
            <a:chOff x="0" y="0"/>
            <a:chExt cx="146304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Study Portal — 3-Tier Architecture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5349240"/>
            <a:ext cx="16596360" cy="1344168"/>
            <a:chOff x="0" y="0"/>
            <a:chExt cx="22128480" cy="179222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128479" cy="1792224"/>
            </a:xfrm>
            <a:custGeom>
              <a:avLst/>
              <a:gdLst/>
              <a:ahLst/>
              <a:cxnLst/>
              <a:rect r="r" b="b" t="t" l="l"/>
              <a:pathLst>
                <a:path h="1792224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664208"/>
                  </a:lnTo>
                  <a:cubicBezTo>
                    <a:pt x="22128479" y="1734947"/>
                    <a:pt x="22071202" y="1792224"/>
                    <a:pt x="22000463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97280" y="5596128"/>
            <a:ext cx="850392" cy="850392"/>
            <a:chOff x="0" y="0"/>
            <a:chExt cx="1133856" cy="11338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07827" y="5706675"/>
            <a:ext cx="629288" cy="629288"/>
            <a:chOff x="0" y="0"/>
            <a:chExt cx="839051" cy="839051"/>
          </a:xfrm>
        </p:grpSpPr>
        <p:sp>
          <p:nvSpPr>
            <p:cNvPr name="Freeform 78" id="78" descr="/home/claude/resume/icons/layers_1E2761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4" b="4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2263140" y="5349240"/>
            <a:ext cx="3703320" cy="1344168"/>
            <a:chOff x="0" y="0"/>
            <a:chExt cx="4937760" cy="17922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9377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3" r="0" b="-36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9377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Tier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72200" y="5349240"/>
            <a:ext cx="10835640" cy="1344168"/>
            <a:chOff x="0" y="0"/>
            <a:chExt cx="14447520" cy="17922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4475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73" r="0" b="-10707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14447520" cy="1858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 / React — Admin Portal + Intern Portal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6885432"/>
            <a:ext cx="16596360" cy="1344168"/>
            <a:chOff x="0" y="0"/>
            <a:chExt cx="22128480" cy="17922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128479" cy="1792224"/>
            </a:xfrm>
            <a:custGeom>
              <a:avLst/>
              <a:gdLst/>
              <a:ahLst/>
              <a:cxnLst/>
              <a:rect r="r" b="b" t="t" l="l"/>
              <a:pathLst>
                <a:path h="1792224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664208"/>
                  </a:lnTo>
                  <a:cubicBezTo>
                    <a:pt x="22128479" y="1734947"/>
                    <a:pt x="22071202" y="1792224"/>
                    <a:pt x="22000463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97280" y="7132320"/>
            <a:ext cx="850392" cy="850392"/>
            <a:chOff x="0" y="0"/>
            <a:chExt cx="1133856" cy="11338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07827" y="7242867"/>
            <a:ext cx="629288" cy="629288"/>
            <a:chOff x="0" y="0"/>
            <a:chExt cx="839051" cy="839051"/>
          </a:xfrm>
        </p:grpSpPr>
        <p:sp>
          <p:nvSpPr>
            <p:cNvPr name="Freeform 90" id="90" descr="/home/claude/resume/icons/server_1E2761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4" b="4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263140" y="6885432"/>
            <a:ext cx="3703320" cy="1344168"/>
            <a:chOff x="0" y="0"/>
            <a:chExt cx="4937760" cy="179222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9377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3" r="0" b="-368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9377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 Tier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172200" y="6885432"/>
            <a:ext cx="10835640" cy="1344168"/>
            <a:chOff x="0" y="0"/>
            <a:chExt cx="14447520" cy="17922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44475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73" r="0" b="-10707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66675"/>
              <a:ext cx="14447520" cy="1858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Express.js REST API — 50+ endpoints, full middleware stack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8421624"/>
            <a:ext cx="16596360" cy="1344168"/>
            <a:chOff x="0" y="0"/>
            <a:chExt cx="22128480" cy="17922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128479" cy="1792224"/>
            </a:xfrm>
            <a:custGeom>
              <a:avLst/>
              <a:gdLst/>
              <a:ahLst/>
              <a:cxnLst/>
              <a:rect r="r" b="b" t="t" l="l"/>
              <a:pathLst>
                <a:path h="1792224" w="2212847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664208"/>
                  </a:lnTo>
                  <a:cubicBezTo>
                    <a:pt x="22128479" y="1734947"/>
                    <a:pt x="22071202" y="1792224"/>
                    <a:pt x="22000463" y="1792224"/>
                  </a:cubicBezTo>
                  <a:lnTo>
                    <a:pt x="128016" y="1792224"/>
                  </a:lnTo>
                  <a:cubicBezTo>
                    <a:pt x="57277" y="1792224"/>
                    <a:pt x="0" y="1734947"/>
                    <a:pt x="0" y="16642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97280" y="8668512"/>
            <a:ext cx="850392" cy="850392"/>
            <a:chOff x="0" y="0"/>
            <a:chExt cx="1133856" cy="113385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07827" y="8779059"/>
            <a:ext cx="629288" cy="629288"/>
            <a:chOff x="0" y="0"/>
            <a:chExt cx="839051" cy="839051"/>
          </a:xfrm>
        </p:grpSpPr>
        <p:sp>
          <p:nvSpPr>
            <p:cNvPr name="Freeform 102" id="102" descr="/home/claude/resume/icons/db_1E2761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4" b="4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2263140" y="8421624"/>
            <a:ext cx="3703320" cy="1344168"/>
            <a:chOff x="0" y="0"/>
            <a:chExt cx="4937760" cy="17922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937760" cy="1792224"/>
            </a:xfrm>
            <a:custGeom>
              <a:avLst/>
              <a:gdLst/>
              <a:ahLst/>
              <a:cxnLst/>
              <a:rect r="r" b="b" t="t" l="l"/>
              <a:pathLst>
                <a:path h="179222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3" r="0" b="-368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937760" cy="1830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Tier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172200" y="8421624"/>
            <a:ext cx="10835640" cy="1344168"/>
            <a:chOff x="0" y="0"/>
            <a:chExt cx="14447520" cy="17922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44475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73" r="0" b="-10707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66675"/>
              <a:ext cx="14447520" cy="1858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+ Prisma — 29-table schema, full audit logging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7487900" y="9806940"/>
            <a:ext cx="548640" cy="411480"/>
            <a:chOff x="0" y="0"/>
            <a:chExt cx="73152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4401800" cy="960120"/>
            <a:chOff x="0" y="0"/>
            <a:chExt cx="19202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Features &amp;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685800"/>
            <a:ext cx="1645920" cy="822960"/>
            <a:chOff x="0" y="0"/>
            <a:chExt cx="21945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FFB1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4.6 / 4.8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618488"/>
            <a:ext cx="1234440" cy="82296"/>
            <a:chOff x="0" y="0"/>
            <a:chExt cx="1645920" cy="109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88820"/>
            <a:ext cx="10972800" cy="548640"/>
            <a:chOff x="0" y="0"/>
            <a:chExt cx="146304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 Built (Study Portal)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674620"/>
            <a:ext cx="5280660" cy="822960"/>
            <a:chOff x="0" y="0"/>
            <a:chExt cx="70408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0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987552"/>
                  </a:lnTo>
                  <a:cubicBezTo>
                    <a:pt x="7040880" y="1048131"/>
                    <a:pt x="6991731" y="1097280"/>
                    <a:pt x="693115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2784348"/>
            <a:ext cx="603504" cy="603504"/>
            <a:chOff x="0" y="0"/>
            <a:chExt cx="804672" cy="80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38577" y="2862805"/>
            <a:ext cx="446589" cy="446589"/>
            <a:chOff x="0" y="0"/>
            <a:chExt cx="595452" cy="595452"/>
          </a:xfrm>
        </p:grpSpPr>
        <p:sp>
          <p:nvSpPr>
            <p:cNvPr name="Freeform 18" id="18" descr="/home/claude/resume/icons/trophy_FFFFFF.png"/>
            <p:cNvSpPr/>
            <p:nvPr/>
          </p:nvSpPr>
          <p:spPr>
            <a:xfrm flipH="false" flipV="false" rot="0">
              <a:off x="0" y="0"/>
              <a:ext cx="595503" cy="595503"/>
            </a:xfrm>
            <a:custGeom>
              <a:avLst/>
              <a:gdLst/>
              <a:ahLst/>
              <a:cxnLst/>
              <a:rect r="r" b="b" t="t" l="l"/>
              <a:pathLst>
                <a:path h="595503" w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14500" y="2674620"/>
            <a:ext cx="4183380" cy="822960"/>
            <a:chOff x="0" y="0"/>
            <a:chExt cx="55778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7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48" r="0" b="-490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577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Intern of the Week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15100" y="2674620"/>
            <a:ext cx="5280660" cy="822960"/>
            <a:chOff x="0" y="0"/>
            <a:chExt cx="70408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0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987552"/>
                  </a:lnTo>
                  <a:cubicBezTo>
                    <a:pt x="7040880" y="1048131"/>
                    <a:pt x="6991731" y="1097280"/>
                    <a:pt x="693115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652260" y="2784348"/>
            <a:ext cx="603504" cy="603504"/>
            <a:chOff x="0" y="0"/>
            <a:chExt cx="804672" cy="80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30717" y="2862805"/>
            <a:ext cx="446589" cy="446589"/>
            <a:chOff x="0" y="0"/>
            <a:chExt cx="595452" cy="595452"/>
          </a:xfrm>
        </p:grpSpPr>
        <p:sp>
          <p:nvSpPr>
            <p:cNvPr name="Freeform 27" id="27" descr="/home/claude/resume/icons/cert_FFFFFF.png"/>
            <p:cNvSpPr/>
            <p:nvPr/>
          </p:nvSpPr>
          <p:spPr>
            <a:xfrm flipH="false" flipV="false" rot="0">
              <a:off x="0" y="0"/>
              <a:ext cx="595503" cy="595503"/>
            </a:xfrm>
            <a:custGeom>
              <a:avLst/>
              <a:gdLst/>
              <a:ahLst/>
              <a:cxnLst/>
              <a:rect r="r" b="b" t="t" l="l"/>
              <a:pathLst>
                <a:path h="595503" w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406640" y="2674620"/>
            <a:ext cx="4183380" cy="822960"/>
            <a:chOff x="0" y="0"/>
            <a:chExt cx="55778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7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48" r="0" b="-4904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577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Auto-Issued Certificates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07240" y="2674620"/>
            <a:ext cx="5280660" cy="822960"/>
            <a:chOff x="0" y="0"/>
            <a:chExt cx="70408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0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987552"/>
                  </a:lnTo>
                  <a:cubicBezTo>
                    <a:pt x="7040880" y="1048131"/>
                    <a:pt x="6991731" y="1097280"/>
                    <a:pt x="693115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0" y="2784348"/>
            <a:ext cx="603504" cy="603504"/>
            <a:chOff x="0" y="0"/>
            <a:chExt cx="804672" cy="8046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22857" y="2862805"/>
            <a:ext cx="446589" cy="446589"/>
            <a:chOff x="0" y="0"/>
            <a:chExt cx="595452" cy="595452"/>
          </a:xfrm>
        </p:grpSpPr>
        <p:sp>
          <p:nvSpPr>
            <p:cNvPr name="Freeform 36" id="36" descr="/home/claude/resume/icons/headset_FFFFFF.png"/>
            <p:cNvSpPr/>
            <p:nvPr/>
          </p:nvSpPr>
          <p:spPr>
            <a:xfrm flipH="false" flipV="false" rot="0">
              <a:off x="0" y="0"/>
              <a:ext cx="595503" cy="595503"/>
            </a:xfrm>
            <a:custGeom>
              <a:avLst/>
              <a:gdLst/>
              <a:ahLst/>
              <a:cxnLst/>
              <a:rect r="r" b="b" t="t" l="l"/>
              <a:pathLst>
                <a:path h="595503" w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98780" y="2674620"/>
            <a:ext cx="4183380" cy="822960"/>
            <a:chOff x="0" y="0"/>
            <a:chExt cx="55778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7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48" r="0" b="-4904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577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 Portal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3703320"/>
            <a:ext cx="5280660" cy="822960"/>
            <a:chOff x="0" y="0"/>
            <a:chExt cx="70408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0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987552"/>
                  </a:lnTo>
                  <a:cubicBezTo>
                    <a:pt x="7040880" y="1048131"/>
                    <a:pt x="6991731" y="1097280"/>
                    <a:pt x="693115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0120" y="3813048"/>
            <a:ext cx="603504" cy="603504"/>
            <a:chOff x="0" y="0"/>
            <a:chExt cx="804672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38577" y="3891505"/>
            <a:ext cx="446589" cy="446589"/>
            <a:chOff x="0" y="0"/>
            <a:chExt cx="595452" cy="595452"/>
          </a:xfrm>
        </p:grpSpPr>
        <p:sp>
          <p:nvSpPr>
            <p:cNvPr name="Freeform 45" id="45" descr="/home/claude/resume/icons/chart_FFFFFF.png"/>
            <p:cNvSpPr/>
            <p:nvPr/>
          </p:nvSpPr>
          <p:spPr>
            <a:xfrm flipH="false" flipV="false" rot="0">
              <a:off x="0" y="0"/>
              <a:ext cx="595503" cy="595503"/>
            </a:xfrm>
            <a:custGeom>
              <a:avLst/>
              <a:gdLst/>
              <a:ahLst/>
              <a:cxnLst/>
              <a:rect r="r" b="b" t="t" l="l"/>
              <a:pathLst>
                <a:path h="595503" w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8" b="8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14500" y="3703320"/>
            <a:ext cx="4183380" cy="822960"/>
            <a:chOff x="0" y="0"/>
            <a:chExt cx="557784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7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48" r="0" b="-4904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577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Analytics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515100" y="3703320"/>
            <a:ext cx="5280660" cy="822960"/>
            <a:chOff x="0" y="0"/>
            <a:chExt cx="704088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40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987552"/>
                  </a:lnTo>
                  <a:cubicBezTo>
                    <a:pt x="7040880" y="1048131"/>
                    <a:pt x="6991731" y="1097280"/>
                    <a:pt x="693115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652260" y="3813048"/>
            <a:ext cx="603504" cy="603504"/>
            <a:chOff x="0" y="0"/>
            <a:chExt cx="804672" cy="8046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730717" y="3891505"/>
            <a:ext cx="446589" cy="446589"/>
            <a:chOff x="0" y="0"/>
            <a:chExt cx="595452" cy="595452"/>
          </a:xfrm>
        </p:grpSpPr>
        <p:sp>
          <p:nvSpPr>
            <p:cNvPr name="Freeform 54" id="54" descr="/home/claude/resume/icons/clipboard_FFFFFF.png"/>
            <p:cNvSpPr/>
            <p:nvPr/>
          </p:nvSpPr>
          <p:spPr>
            <a:xfrm flipH="false" flipV="false" rot="0">
              <a:off x="0" y="0"/>
              <a:ext cx="595503" cy="595503"/>
            </a:xfrm>
            <a:custGeom>
              <a:avLst/>
              <a:gdLst/>
              <a:ahLst/>
              <a:cxnLst/>
              <a:rect r="r" b="b" t="t" l="l"/>
              <a:pathLst>
                <a:path h="595503" w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8" b="8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406640" y="3703320"/>
            <a:ext cx="4183380" cy="822960"/>
            <a:chOff x="0" y="0"/>
            <a:chExt cx="557784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7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48" r="0" b="-490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577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Assignments Module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07240" y="3703320"/>
            <a:ext cx="5280660" cy="822960"/>
            <a:chOff x="0" y="0"/>
            <a:chExt cx="704088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40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987552"/>
                  </a:lnTo>
                  <a:cubicBezTo>
                    <a:pt x="7040880" y="1048131"/>
                    <a:pt x="6991731" y="1097280"/>
                    <a:pt x="693115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344400" y="3813048"/>
            <a:ext cx="603504" cy="603504"/>
            <a:chOff x="0" y="0"/>
            <a:chExt cx="804672" cy="8046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422857" y="3891505"/>
            <a:ext cx="446589" cy="446589"/>
            <a:chOff x="0" y="0"/>
            <a:chExt cx="595452" cy="595452"/>
          </a:xfrm>
        </p:grpSpPr>
        <p:sp>
          <p:nvSpPr>
            <p:cNvPr name="Freeform 63" id="63" descr="/home/claude/resume/icons/users_FFFFFF.png"/>
            <p:cNvSpPr/>
            <p:nvPr/>
          </p:nvSpPr>
          <p:spPr>
            <a:xfrm flipH="false" flipV="false" rot="0">
              <a:off x="0" y="0"/>
              <a:ext cx="595503" cy="595503"/>
            </a:xfrm>
            <a:custGeom>
              <a:avLst/>
              <a:gdLst/>
              <a:ahLst/>
              <a:cxnLst/>
              <a:rect r="r" b="b" t="t" l="l"/>
              <a:pathLst>
                <a:path h="595503" w="595503">
                  <a:moveTo>
                    <a:pt x="0" y="0"/>
                  </a:moveTo>
                  <a:lnTo>
                    <a:pt x="595503" y="0"/>
                  </a:lnTo>
                  <a:lnTo>
                    <a:pt x="595503" y="595503"/>
                  </a:lnTo>
                  <a:lnTo>
                    <a:pt x="0" y="59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8" b="8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098780" y="3703320"/>
            <a:ext cx="4183380" cy="822960"/>
            <a:chOff x="0" y="0"/>
            <a:chExt cx="557784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57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48" r="0" b="-4904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5577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Gamified Learning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5143500"/>
            <a:ext cx="10972800" cy="548640"/>
            <a:chOff x="0" y="0"/>
            <a:chExt cx="1463040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Development Methodology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002536" y="5829300"/>
            <a:ext cx="658368" cy="658368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2002536" y="5829300"/>
            <a:ext cx="658368" cy="658368"/>
            <a:chOff x="0" y="0"/>
            <a:chExt cx="877824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6679692"/>
            <a:ext cx="3017520" cy="822960"/>
            <a:chOff x="0" y="0"/>
            <a:chExt cx="402336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Foundation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840480" y="5801868"/>
            <a:ext cx="377190" cy="685800"/>
            <a:chOff x="0" y="0"/>
            <a:chExt cx="502920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02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397246" y="5829300"/>
            <a:ext cx="658368" cy="658368"/>
            <a:chOff x="0" y="0"/>
            <a:chExt cx="877824" cy="8778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397246" y="5829300"/>
            <a:ext cx="658368" cy="658368"/>
            <a:chOff x="0" y="0"/>
            <a:chExt cx="877824" cy="87782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217670" y="6679692"/>
            <a:ext cx="3017520" cy="822960"/>
            <a:chOff x="0" y="0"/>
            <a:chExt cx="402336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UI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235190" y="5801868"/>
            <a:ext cx="377190" cy="685800"/>
            <a:chOff x="0" y="0"/>
            <a:chExt cx="502920" cy="914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02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791956" y="5829300"/>
            <a:ext cx="658368" cy="658368"/>
            <a:chOff x="0" y="0"/>
            <a:chExt cx="877824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791956" y="5829300"/>
            <a:ext cx="658368" cy="658368"/>
            <a:chOff x="0" y="0"/>
            <a:chExt cx="877824" cy="8778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612380" y="6679692"/>
            <a:ext cx="3017520" cy="822960"/>
            <a:chOff x="0" y="0"/>
            <a:chExt cx="4023360" cy="1097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 Overhaul + Intern Portal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629900" y="5801868"/>
            <a:ext cx="377190" cy="685800"/>
            <a:chOff x="0" y="0"/>
            <a:chExt cx="502920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502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186666" y="5829300"/>
            <a:ext cx="658368" cy="658368"/>
            <a:chOff x="0" y="0"/>
            <a:chExt cx="877824" cy="8778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186666" y="5829300"/>
            <a:ext cx="658368" cy="658368"/>
            <a:chOff x="0" y="0"/>
            <a:chExt cx="877824" cy="87782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007090" y="6679692"/>
            <a:ext cx="3017520" cy="822960"/>
            <a:chOff x="0" y="0"/>
            <a:chExt cx="4023360" cy="10972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Recovery &amp; Integrity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024610" y="5801868"/>
            <a:ext cx="377190" cy="685800"/>
            <a:chOff x="0" y="0"/>
            <a:chExt cx="502920" cy="914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02920" cy="914400"/>
            </a:xfrm>
            <a:custGeom>
              <a:avLst/>
              <a:gdLst/>
              <a:ahLst/>
              <a:cxnLst/>
              <a:rect r="r" b="b" t="t" l="l"/>
              <a:pathLst>
                <a:path h="91440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279" t="0" r="-183279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502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B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5581376" y="5829300"/>
            <a:ext cx="658368" cy="658368"/>
            <a:chOff x="0" y="0"/>
            <a:chExt cx="877824" cy="87782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581376" y="5829300"/>
            <a:ext cx="658368" cy="658368"/>
            <a:chOff x="0" y="0"/>
            <a:chExt cx="877824" cy="8778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401800" y="6679692"/>
            <a:ext cx="3017520" cy="822960"/>
            <a:chOff x="0" y="0"/>
            <a:chExt cx="4023360" cy="10972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Sprint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22960" y="7612380"/>
            <a:ext cx="16596360" cy="1440180"/>
            <a:chOff x="0" y="0"/>
            <a:chExt cx="22128480" cy="19202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12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773936"/>
                  </a:lnTo>
                  <a:cubicBezTo>
                    <a:pt x="22128480" y="1854708"/>
                    <a:pt x="22062948" y="1920240"/>
                    <a:pt x="2198217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34440" y="7612380"/>
            <a:ext cx="15773400" cy="1440180"/>
            <a:chOff x="0" y="0"/>
            <a:chExt cx="21031200" cy="19202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07" r="0" b="-163407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85725"/>
              <a:ext cx="21031200" cy="2005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 hardening: </a:t>
              </a:r>
              <a:r>
                <a:rPr lang="en-US" sz="17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resolved OAuth token conflicts and API rate-limiting under a same-day delivery deadline; ~75% overall Study Portal completion with core modules fully functional.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7487900" y="9806940"/>
            <a:ext cx="548640" cy="411480"/>
            <a:chOff x="0" y="0"/>
            <a:chExt cx="731520" cy="5486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27480" y="-30175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735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17220"/>
            <a:ext cx="13716000" cy="960120"/>
            <a:chOff x="0" y="0"/>
            <a:chExt cx="18288000" cy="128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Outcomes &amp; Skills Gained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685800"/>
            <a:ext cx="1645920" cy="822960"/>
            <a:chOff x="0" y="0"/>
            <a:chExt cx="2194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FFB1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0392" y="1618488"/>
            <a:ext cx="1234440" cy="82296"/>
            <a:chOff x="0" y="0"/>
            <a:chExt cx="1645920" cy="1097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167128"/>
            <a:ext cx="411480" cy="411480"/>
            <a:chOff x="0" y="0"/>
            <a:chExt cx="54864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167128"/>
            <a:ext cx="411480" cy="411480"/>
            <a:chOff x="0" y="0"/>
            <a:chExt cx="54864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486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0180" y="2057400"/>
            <a:ext cx="15773400" cy="685800"/>
            <a:chOff x="0" y="0"/>
            <a:chExt cx="21031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functioning AI agent that reliably triages email and drafts contextually relevant replies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017520"/>
            <a:ext cx="411480" cy="411480"/>
            <a:chOff x="0" y="0"/>
            <a:chExt cx="54864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3017520"/>
            <a:ext cx="411480" cy="411480"/>
            <a:chOff x="0" y="0"/>
            <a:chExt cx="54864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486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40180" y="2907792"/>
            <a:ext cx="15773400" cy="685800"/>
            <a:chOff x="0" y="0"/>
            <a:chExt cx="210312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production-grade, secure platform supporting the full intern lifecycle end-to-end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3867912"/>
            <a:ext cx="411480" cy="411480"/>
            <a:chOff x="0" y="0"/>
            <a:chExt cx="54864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3867912"/>
            <a:ext cx="411480" cy="411480"/>
            <a:chOff x="0" y="0"/>
            <a:chExt cx="54864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486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0180" y="3758184"/>
            <a:ext cx="15773400" cy="685800"/>
            <a:chOff x="0" y="0"/>
            <a:chExt cx="210312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Demonstrated ability to independently ship features across backend and frontend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4718304"/>
            <a:ext cx="411480" cy="411480"/>
            <a:chOff x="0" y="0"/>
            <a:chExt cx="54864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FB1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4718304"/>
            <a:ext cx="411480" cy="411480"/>
            <a:chOff x="0" y="0"/>
            <a:chExt cx="54864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486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40180" y="4608576"/>
            <a:ext cx="15773400" cy="685800"/>
            <a:chOff x="0" y="0"/>
            <a:chExt cx="210312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Strengthened, demonstrable skills in agentic AI and full-stack engineering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3960">
            <a:off x="813425" y="5618797"/>
            <a:ext cx="16615420" cy="0"/>
          </a:xfrm>
          <a:prstGeom prst="line">
            <a:avLst/>
          </a:prstGeom>
          <a:ln cap="rnd" w="9525">
            <a:solidFill>
              <a:srgbClr val="3A46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8092440" y="5966460"/>
            <a:ext cx="1165860" cy="1165860"/>
            <a:chOff x="0" y="0"/>
            <a:chExt cx="155448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3A469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44002" y="6118022"/>
            <a:ext cx="862736" cy="862736"/>
            <a:chOff x="0" y="0"/>
            <a:chExt cx="1150315" cy="1150315"/>
          </a:xfrm>
        </p:grpSpPr>
        <p:sp>
          <p:nvSpPr>
            <p:cNvPr name="Freeform 48" id="48" descr="/home/claude/resume/icons/robot_FFFFFF.png"/>
            <p:cNvSpPr/>
            <p:nvPr/>
          </p:nvSpPr>
          <p:spPr>
            <a:xfrm flipH="false" flipV="false" rot="0">
              <a:off x="0" y="0"/>
              <a:ext cx="1150366" cy="1150366"/>
            </a:xfrm>
            <a:custGeom>
              <a:avLst/>
              <a:gdLst/>
              <a:ahLst/>
              <a:cxnLst/>
              <a:rect r="r" b="b" t="t" l="l"/>
              <a:pathLst>
                <a:path h="1150366" w="1150366">
                  <a:moveTo>
                    <a:pt x="0" y="0"/>
                  </a:moveTo>
                  <a:lnTo>
                    <a:pt x="1150366" y="0"/>
                  </a:lnTo>
                  <a:lnTo>
                    <a:pt x="1150366" y="1150366"/>
                  </a:lnTo>
                  <a:lnTo>
                    <a:pt x="0" y="1150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" y="7269480"/>
            <a:ext cx="16596360" cy="960120"/>
            <a:chOff x="0" y="0"/>
            <a:chExt cx="2212848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8915400"/>
            <a:ext cx="16596360" cy="548640"/>
            <a:chOff x="0" y="0"/>
            <a:chExt cx="221284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21284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Aakif Jawaid  |  jawaid.aakif@gmail.com  |  linkedin.com/in/jawaidaakif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DAHTw4sULAs</dc:identifier>
  <dcterms:modified xsi:type="dcterms:W3CDTF">2011-08-01T06:04:30Z</dcterms:modified>
  <cp:revision>1</cp:revision>
  <dc:title>Aakif_Jawaid_Internship_PPT.pptx</dc:title>
</cp:coreProperties>
</file>